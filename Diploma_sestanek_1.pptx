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82" r:id="rId2"/>
    <p:sldId id="283" r:id="rId3"/>
    <p:sldId id="285" r:id="rId4"/>
    <p:sldId id="286" r:id="rId5"/>
  </p:sldIdLst>
  <p:sldSz cx="12192000" cy="6858000"/>
  <p:notesSz cx="6858000" cy="9144000"/>
  <p:defaultTextStyle>
    <a:defPPr>
      <a:defRPr lang="en-S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999"/>
    <a:srgbClr val="FFAE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I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E7A8AE-4FA0-402D-B458-07E2155604FC}" type="datetimeFigureOut">
              <a:rPr lang="en-SI" smtClean="0"/>
              <a:t>31/03/2026</a:t>
            </a:fld>
            <a:endParaRPr lang="en-SI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I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12E7C9-0D0D-42A4-BC6D-117CFE2B0C53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1563163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12E7C9-0D0D-42A4-BC6D-117CFE2B0C53}" type="slidenum">
              <a:rPr lang="en-SI" smtClean="0"/>
              <a:t>1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988463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F3E00-7705-72F1-DEB3-517F41E68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20952B-2B8A-D322-8E34-DBBFFC4656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0E517E-E357-2F4E-A1AA-0D25E8B2B9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D008D6-714F-D23B-9453-8B9B4D87C9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12E7C9-0D0D-42A4-BC6D-117CFE2B0C53}" type="slidenum">
              <a:rPr lang="en-SI" smtClean="0"/>
              <a:t>2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39311916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B9F38-AE9B-BE32-8C4C-BA702131C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2B7A84-0108-15CE-AC4D-B5BCD464FE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3D31F4-F863-65C1-9EC7-383895643B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C8A1DE-1D49-1A47-DA69-97BDF934AD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12E7C9-0D0D-42A4-BC6D-117CFE2B0C53}" type="slidenum">
              <a:rPr lang="en-SI" smtClean="0"/>
              <a:t>3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30709869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E8DE6-2583-3EB9-3CD3-E4A915A93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677140-524C-DCC1-698A-CAAD693DBB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E8B26B-688F-1E0E-3FFD-C7042CB38D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C7EF13-5D1E-D6DA-9A80-7E04490430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12E7C9-0D0D-42A4-BC6D-117CFE2B0C53}" type="slidenum">
              <a:rPr lang="en-SI" smtClean="0"/>
              <a:t>4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4734021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9AE5A-DE25-D22E-CAF6-FC1E12F7EE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I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DA681D-27A8-1A93-CE77-48A3391C4A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C21C7A-B541-95F9-43BA-9BE16A4FE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76353-8949-4E4F-9A57-72F7CA50D12F}" type="datetimeFigureOut">
              <a:rPr lang="en-SI" smtClean="0"/>
              <a:t>31/03/2026</a:t>
            </a:fld>
            <a:endParaRPr lang="en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48E78-67A3-4338-3502-5A89A0E33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61A8E5-8742-7CCC-D90F-D7B31050E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A66DC-2A13-43B4-B79E-76A873144D83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3626724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2A45F-A36C-F8CB-F3C1-FA39B38CF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72C02-FCEC-E3EE-1CD7-860DE5D808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429ED-F261-248A-4047-CF5FCF533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76353-8949-4E4F-9A57-72F7CA50D12F}" type="datetimeFigureOut">
              <a:rPr lang="en-SI" smtClean="0"/>
              <a:t>31/03/2026</a:t>
            </a:fld>
            <a:endParaRPr lang="en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6F66C8-E0FA-2576-A2CC-DF19E7493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B42B1C-BC59-4883-3BA5-BCE67B66D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A66DC-2A13-43B4-B79E-76A873144D83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231041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4260B-29F6-877A-082C-2CF188772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862A72-F8DA-9C10-AED9-FC6EE60030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3301C6-18C8-CFA8-F29E-A7A56FD0E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76353-8949-4E4F-9A57-72F7CA50D12F}" type="datetimeFigureOut">
              <a:rPr lang="en-SI" smtClean="0"/>
              <a:t>31/03/2026</a:t>
            </a:fld>
            <a:endParaRPr lang="en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5A742A-DFBE-CD41-0098-98804D923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6FC21D-F06A-D605-0969-07CA20A5B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A66DC-2A13-43B4-B79E-76A873144D83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3457388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99C3A-B23A-B9BF-CE2A-686404D7E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3B263-9AC3-B1F6-0D56-359ADF9C37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I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ED7E6A-E20D-7910-A777-C4ECB88C0D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1A4ABA-F132-C487-6EFE-2F3C7C27E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76353-8949-4E4F-9A57-72F7CA50D12F}" type="datetimeFigureOut">
              <a:rPr lang="en-SI" smtClean="0"/>
              <a:t>31/03/2026</a:t>
            </a:fld>
            <a:endParaRPr lang="en-S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D629AD-D1BF-7C5A-9473-0EE9C82C2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FCB7EA-F356-BB9F-15C8-3DF2AECC8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A66DC-2A13-43B4-B79E-76A873144D83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3717317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518E1-4F3B-4E40-079E-B79BFB61A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D5C36C-777C-A8D0-04B6-B3D2585985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8783F0-93B4-5770-75AE-743260C066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I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EF2579-A209-7CA0-A988-915B4EA463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897DCC-483E-B087-0341-5C6915310D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I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7D84FC-3F17-48A5-3254-250047562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76353-8949-4E4F-9A57-72F7CA50D12F}" type="datetimeFigureOut">
              <a:rPr lang="en-SI" smtClean="0"/>
              <a:t>31/03/2026</a:t>
            </a:fld>
            <a:endParaRPr lang="en-SI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647D5D-3874-44C9-685A-878B0CDBD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8100C8-539B-F059-DF95-67717A4F5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A66DC-2A13-43B4-B79E-76A873144D83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502707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4406D-C52B-3177-87B6-587176ED3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E08303-1AC8-9DD6-7341-DF91AE3AA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76353-8949-4E4F-9A57-72F7CA50D12F}" type="datetimeFigureOut">
              <a:rPr lang="en-SI" smtClean="0"/>
              <a:t>31/03/2026</a:t>
            </a:fld>
            <a:endParaRPr lang="en-S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702CE1-8F2A-3552-7657-E8D81A15C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DF9B7E-3E4B-0505-FC68-C8EE988F2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A66DC-2A13-43B4-B79E-76A873144D83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2670758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06EC4D-C84D-BD36-D21E-075D447D8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76353-8949-4E4F-9A57-72F7CA50D12F}" type="datetimeFigureOut">
              <a:rPr lang="en-SI" smtClean="0"/>
              <a:t>31/03/2026</a:t>
            </a:fld>
            <a:endParaRPr lang="en-S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D55DEA-F5A8-4278-3D8E-1AA846992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18230F-A0C7-436A-E8C6-12F90AA85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A66DC-2A13-43B4-B79E-76A873144D83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2601767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F71CB-CA96-EEA5-04CF-D79F3242A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BCFC7D-2673-8231-7EDB-CED6F41FAA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41A89E-F9AC-8516-5AAE-7797B6F4E7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4B0757-2856-8D3D-11B0-EE45ECBCC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76353-8949-4E4F-9A57-72F7CA50D12F}" type="datetimeFigureOut">
              <a:rPr lang="en-SI" smtClean="0"/>
              <a:t>31/03/2026</a:t>
            </a:fld>
            <a:endParaRPr lang="en-S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3E16A4-44A2-903A-F7BB-87F35088E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DDD89F-E37E-CCF9-E14C-8A55757E4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A66DC-2A13-43B4-B79E-76A873144D83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2590144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C719-49EC-A1D5-F724-A1E39A630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I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7A8509-2139-00A8-9069-6D67C342CD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0FE524-5F41-E8E3-FF3A-02B519D3B6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3F1EAB-6295-D9F6-C7AB-13A6BEDED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76353-8949-4E4F-9A57-72F7CA50D12F}" type="datetimeFigureOut">
              <a:rPr lang="en-SI" smtClean="0"/>
              <a:t>31/03/2026</a:t>
            </a:fld>
            <a:endParaRPr lang="en-S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67BA5D-6C3E-67C7-0EC4-8DD867BA4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51CE5C-60C9-E034-C405-CC1949C07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A66DC-2A13-43B4-B79E-76A873144D83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2684154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FBB03-AB94-F662-471D-E83DAF485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DA4CD6-DAC2-3BD8-0C07-41F6ED405A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9745ED-B9B0-AB9A-FED1-037AC6006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76353-8949-4E4F-9A57-72F7CA50D12F}" type="datetimeFigureOut">
              <a:rPr lang="en-SI" smtClean="0"/>
              <a:t>31/03/2026</a:t>
            </a:fld>
            <a:endParaRPr lang="en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DB6BDE-8D21-3BAF-6100-820E32493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D327B8-B7A8-5466-06AC-3FCC56867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A66DC-2A13-43B4-B79E-76A873144D83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3447807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3CEE64-BC3F-5D2B-A0EC-5500960027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4D0199-550B-C07E-1DA2-A51FC95DEA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B56CFB-B741-65FC-15B7-D23D7369D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76353-8949-4E4F-9A57-72F7CA50D12F}" type="datetimeFigureOut">
              <a:rPr lang="en-SI" smtClean="0"/>
              <a:t>31/03/2026</a:t>
            </a:fld>
            <a:endParaRPr lang="en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FB2A24-3162-F803-B3CF-12A0569F7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8E70BC-0B0D-9151-DEF9-17E481798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A66DC-2A13-43B4-B79E-76A873144D83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2918898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2BD379-578D-4728-BD5D-6C4C4E07A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BB2A9-AD39-4518-BF02-81206729CD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815331-3DF1-BB7F-7D2B-B6778B14A5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176353-8949-4E4F-9A57-72F7CA50D12F}" type="datetimeFigureOut">
              <a:rPr lang="en-SI" smtClean="0"/>
              <a:t>31/03/2026</a:t>
            </a:fld>
            <a:endParaRPr lang="en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F51FE9-6AD4-7A19-5E8B-B27BBFB72B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9E84B1-1A49-4E07-6277-BACC768F4F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2A66DC-2A13-43B4-B79E-76A873144D83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3477183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ture.com/articles/s41467-023-40380-0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xiv.org/abs/2106.03253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ture.com/articles/s41467-026-70505-0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3FCE1-56C6-A0D6-3CBF-75000E97E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3126F-62C7-FE03-FB22-23526781D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550" y="1149709"/>
            <a:ext cx="10515600" cy="620645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T Norms Pro" panose="02000503030000020003" pitchFamily="50" charset="0"/>
                <a:cs typeface="Arial"/>
              </a:rPr>
              <a:t>RNA ALI FLUX SAMPLING</a:t>
            </a:r>
            <a:r>
              <a:rPr lang="sl-SI" sz="3200" b="1" dirty="0">
                <a:latin typeface="TT Norms Pro" panose="02000503030000020003" pitchFamily="50" charset="0"/>
                <a:cs typeface="Arial"/>
              </a:rPr>
              <a:t>?</a:t>
            </a:r>
            <a:endParaRPr lang="sl-SI" sz="3200" b="1" dirty="0">
              <a:latin typeface="TT Norms Pro" panose="02000503030000020003" pitchFamily="50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838CA-4E44-EFFD-5E9A-13C25BAF9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4550" y="1974090"/>
            <a:ext cx="3980908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sl-SI" sz="1400" dirty="0">
                <a:cs typeface="Arial" panose="020B0604020202020204" pitchFamily="34" charset="0"/>
              </a:rPr>
              <a:t>RNA / transkriptomski podatki pokažejo celotno sliko, torej vse </a:t>
            </a:r>
            <a:r>
              <a:rPr lang="sl-SI" sz="1400" b="1" dirty="0">
                <a:cs typeface="Arial" panose="020B0604020202020204" pitchFamily="34" charset="0"/>
              </a:rPr>
              <a:t>specifične celične markerje</a:t>
            </a:r>
            <a:r>
              <a:rPr lang="sl-SI" sz="1400" dirty="0">
                <a:cs typeface="Arial" panose="020B0604020202020204" pitchFamily="34" charset="0"/>
              </a:rPr>
              <a:t>, seveda pa tudi metabolne transkripte. So skoraj 100% zanesljivi, ker niso izračunani.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681B180-6D21-F70D-6C13-F228C82001E1}"/>
              </a:ext>
            </a:extLst>
          </p:cNvPr>
          <p:cNvSpPr txBox="1">
            <a:spLocks/>
          </p:cNvSpPr>
          <p:nvPr/>
        </p:nvSpPr>
        <p:spPr>
          <a:xfrm>
            <a:off x="955214" y="774062"/>
            <a:ext cx="10574592" cy="4468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>
                <a:solidFill>
                  <a:schemeClr val="bg2">
                    <a:lumMod val="25000"/>
                  </a:schemeClr>
                </a:solidFill>
                <a:latin typeface="TT Norms Pro Medium" panose="02000803030000020004" pitchFamily="50" charset="0"/>
                <a:cs typeface="Arial" panose="020B0604020202020204" pitchFamily="34" charset="0"/>
              </a:rPr>
              <a:t>PODATKOVNI TIP</a:t>
            </a:r>
            <a:endParaRPr lang="sl-SI" sz="1200" dirty="0">
              <a:solidFill>
                <a:schemeClr val="bg2">
                  <a:lumMod val="25000"/>
                </a:schemeClr>
              </a:solidFill>
              <a:latin typeface="TT Norms Pro Medium" panose="02000803030000020004" pitchFamily="50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Single-cell RNA-seq: Marker identification | Introduction to Single-cell RNA -seq - ARCHIVED">
            <a:extLst>
              <a:ext uri="{FF2B5EF4-FFF2-40B4-BE49-F238E27FC236}">
                <a16:creationId xmlns:a16="http://schemas.microsoft.com/office/drawing/2014/main" id="{292BC3EF-86DE-A7AD-A65A-5934FA1658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550" y="3118282"/>
            <a:ext cx="4185919" cy="2896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etabolic flux distribution based on 13C flux analysis using the... |  Download Scientific Diagram">
            <a:extLst>
              <a:ext uri="{FF2B5EF4-FFF2-40B4-BE49-F238E27FC236}">
                <a16:creationId xmlns:a16="http://schemas.microsoft.com/office/drawing/2014/main" id="{3D407637-0979-7BD8-E1A3-DD9384700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544" y="726535"/>
            <a:ext cx="3116824" cy="3957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3BA9CDD-68D4-049F-2DBC-72A8BF1D17E6}"/>
              </a:ext>
            </a:extLst>
          </p:cNvPr>
          <p:cNvSpPr txBox="1"/>
          <p:nvPr/>
        </p:nvSpPr>
        <p:spPr>
          <a:xfrm>
            <a:off x="6744928" y="5032371"/>
            <a:ext cx="522092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1400" dirty="0"/>
              <a:t>Fluks izračuni so dejansko </a:t>
            </a:r>
            <a:r>
              <a:rPr lang="sl-SI" sz="1400" b="1" dirty="0"/>
              <a:t>filtrirani RNA podatki</a:t>
            </a:r>
            <a:r>
              <a:rPr lang="sl-SI" sz="1400" dirty="0"/>
              <a:t>, kjer se obdržijo samo metabolni transkripti. Z drugimi besedami </a:t>
            </a:r>
            <a:r>
              <a:rPr lang="sl-SI" sz="1400" b="1" dirty="0"/>
              <a:t>manj šuma</a:t>
            </a:r>
            <a:r>
              <a:rPr lang="sl-SI" sz="1400" dirty="0"/>
              <a:t>, ampak </a:t>
            </a:r>
            <a:r>
              <a:rPr lang="sl-SI" sz="1400" b="1" dirty="0"/>
              <a:t>informativen le za metabolizem</a:t>
            </a:r>
            <a:r>
              <a:rPr lang="sl-SI" sz="1400" dirty="0"/>
              <a:t>. Ne moreš primerjati metabolizma jetrne in makrofagne celice. Verjetno je korelacija ampak slabša od RNA, zato tega nihče ne uporablja.</a:t>
            </a:r>
            <a:endParaRPr lang="en-SI" sz="1400" dirty="0"/>
          </a:p>
        </p:txBody>
      </p:sp>
    </p:spTree>
    <p:extLst>
      <p:ext uri="{BB962C8B-B14F-4D97-AF65-F5344CB8AC3E}">
        <p14:creationId xmlns:p14="http://schemas.microsoft.com/office/powerpoint/2010/main" val="2883018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B3550-ECC8-5EA9-2DF3-E2A44C9D3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6D3D5-41FE-5069-275F-6CB5D7A26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550" y="1149709"/>
            <a:ext cx="10515600" cy="620645"/>
          </a:xfrm>
        </p:spPr>
        <p:txBody>
          <a:bodyPr>
            <a:normAutofit/>
          </a:bodyPr>
          <a:lstStyle/>
          <a:p>
            <a:r>
              <a:rPr lang="sl-SI" sz="3200" b="1" dirty="0">
                <a:latin typeface="TT Norms Pro" panose="02000503030000020003" pitchFamily="50" charset="0"/>
                <a:cs typeface="Arial"/>
              </a:rPr>
              <a:t>XGBOOST | NN </a:t>
            </a:r>
            <a:endParaRPr lang="sl-SI" sz="3200" b="1" dirty="0">
              <a:latin typeface="TT Norms Pro" panose="02000503030000020003" pitchFamily="50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6081BF-CE3E-4A20-1E1F-3E8CDF9856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4550" y="1974090"/>
            <a:ext cx="3980908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sl-SI" sz="1400" b="1" dirty="0">
                <a:cs typeface="Arial" panose="020B0604020202020204" pitchFamily="34" charset="0"/>
              </a:rPr>
              <a:t>Lastnosti fluks podatkov:</a:t>
            </a:r>
            <a:endParaRPr lang="sl-SI" sz="1000" b="1" dirty="0">
              <a:cs typeface="Arial" panose="020B0604020202020204" pitchFamily="34" charset="0"/>
            </a:endParaRPr>
          </a:p>
          <a:p>
            <a:r>
              <a:rPr lang="sl-SI" sz="1400" dirty="0">
                <a:cs typeface="Arial" panose="020B0604020202020204" pitchFamily="34" charset="0"/>
              </a:rPr>
              <a:t>tabelaričnost</a:t>
            </a:r>
          </a:p>
          <a:p>
            <a:r>
              <a:rPr lang="sl-SI" sz="1400" dirty="0">
                <a:cs typeface="Arial" panose="020B0604020202020204" pitchFamily="34" charset="0"/>
              </a:rPr>
              <a:t>relativno malo podatkov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22BD66C-9319-4D7D-B0FD-45EDAE31F9FD}"/>
              </a:ext>
            </a:extLst>
          </p:cNvPr>
          <p:cNvSpPr txBox="1">
            <a:spLocks/>
          </p:cNvSpPr>
          <p:nvPr/>
        </p:nvSpPr>
        <p:spPr>
          <a:xfrm>
            <a:off x="955214" y="774062"/>
            <a:ext cx="10574592" cy="4468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>
                <a:solidFill>
                  <a:schemeClr val="bg2">
                    <a:lumMod val="25000"/>
                  </a:schemeClr>
                </a:solidFill>
                <a:latin typeface="TT Norms Pro Medium" panose="02000803030000020004" pitchFamily="50" charset="0"/>
                <a:cs typeface="Arial" panose="020B0604020202020204" pitchFamily="34" charset="0"/>
              </a:rPr>
              <a:t>TIP</a:t>
            </a:r>
            <a:r>
              <a:rPr lang="sl-SI" sz="1200" dirty="0">
                <a:solidFill>
                  <a:schemeClr val="bg2">
                    <a:lumMod val="25000"/>
                  </a:schemeClr>
                </a:solidFill>
                <a:latin typeface="TT Norms Pro Medium" panose="02000803030000020004" pitchFamily="50" charset="0"/>
                <a:cs typeface="Arial" panose="020B0604020202020204" pitchFamily="34" charset="0"/>
              </a:rPr>
              <a:t> MACHINE LEARNING MODELA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9228B84-3080-D374-0773-2C82B88280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2760091"/>
              </p:ext>
            </p:extLst>
          </p:nvPr>
        </p:nvGraphicFramePr>
        <p:xfrm>
          <a:off x="5187000" y="1427480"/>
          <a:ext cx="6030450" cy="2001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010150">
                  <a:extLst>
                    <a:ext uri="{9D8B030D-6E8A-4147-A177-3AD203B41FA5}">
                      <a16:colId xmlns:a16="http://schemas.microsoft.com/office/drawing/2014/main" val="1046435295"/>
                    </a:ext>
                  </a:extLst>
                </a:gridCol>
                <a:gridCol w="2010150">
                  <a:extLst>
                    <a:ext uri="{9D8B030D-6E8A-4147-A177-3AD203B41FA5}">
                      <a16:colId xmlns:a16="http://schemas.microsoft.com/office/drawing/2014/main" val="1313444479"/>
                    </a:ext>
                  </a:extLst>
                </a:gridCol>
                <a:gridCol w="2010150">
                  <a:extLst>
                    <a:ext uri="{9D8B030D-6E8A-4147-A177-3AD203B41FA5}">
                      <a16:colId xmlns:a16="http://schemas.microsoft.com/office/drawing/2014/main" val="24292009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sl-SI" sz="1400" dirty="0"/>
                        <a:t>Lastnosti</a:t>
                      </a:r>
                      <a:endParaRPr lang="en-SI" dirty="0"/>
                    </a:p>
                  </a:txBody>
                  <a:tcP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l-SI" sz="1400" dirty="0"/>
                        <a:t>XGBoost</a:t>
                      </a:r>
                      <a:endParaRPr lang="en-SI" dirty="0">
                        <a:latin typeface="+mn-lt"/>
                      </a:endParaRPr>
                    </a:p>
                  </a:txBody>
                  <a:tcP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l-SI" sz="1400" dirty="0"/>
                        <a:t>Neural network</a:t>
                      </a:r>
                      <a:endParaRPr lang="en-SI" sz="1400" dirty="0"/>
                    </a:p>
                  </a:txBody>
                  <a:tcP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909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sl-SI" sz="1400" dirty="0"/>
                        <a:t>interpretabilnost</a:t>
                      </a:r>
                      <a:endParaRPr lang="en-SI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l-SI" sz="1400" dirty="0"/>
                        <a:t>Lažja ampak manj informativna</a:t>
                      </a:r>
                      <a:endParaRPr lang="en-SI" sz="1400" dirty="0"/>
                    </a:p>
                  </a:txBody>
                  <a:tcPr>
                    <a:solidFill>
                      <a:srgbClr val="FFE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l-SI" sz="1400" dirty="0"/>
                        <a:t>Težja a bolj informativna</a:t>
                      </a:r>
                      <a:endParaRPr lang="en-SI" sz="1400" dirty="0"/>
                    </a:p>
                  </a:txBody>
                  <a:tcPr>
                    <a:solidFill>
                      <a:srgbClr val="FFE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97005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sl-SI" sz="1400" dirty="0"/>
                        <a:t>Kol. podatkov</a:t>
                      </a:r>
                      <a:endParaRPr lang="en-SI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l-SI" sz="1400" dirty="0"/>
                        <a:t>Manj</a:t>
                      </a:r>
                      <a:endParaRPr lang="en-SI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l-SI" sz="1400" dirty="0"/>
                        <a:t>Več</a:t>
                      </a:r>
                      <a:endParaRPr lang="en-SI" sz="1400" dirty="0"/>
                    </a:p>
                  </a:txBody>
                  <a:tcPr>
                    <a:solidFill>
                      <a:srgbClr val="FFAE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74144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sl-SI" sz="1400" dirty="0"/>
                        <a:t>Učenje</a:t>
                      </a:r>
                      <a:endParaRPr lang="en-SI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l-SI" sz="1400" dirty="0"/>
                        <a:t>Manj kompleksno</a:t>
                      </a:r>
                      <a:endParaRPr lang="en-SI" dirty="0"/>
                    </a:p>
                  </a:txBody>
                  <a:tcPr>
                    <a:solidFill>
                      <a:srgbClr val="FFAE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l-SI" sz="1400" dirty="0"/>
                        <a:t>Bolj kompleksno</a:t>
                      </a:r>
                      <a:endParaRPr lang="en-SI" sz="14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6079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sl-SI" sz="1400" dirty="0"/>
                        <a:t>Čas treniranja</a:t>
                      </a:r>
                      <a:endParaRPr lang="en-SI" sz="140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l-SI" sz="1400" dirty="0"/>
                        <a:t>Krajši</a:t>
                      </a:r>
                      <a:endParaRPr lang="en-SI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l-SI" sz="1400" dirty="0"/>
                        <a:t>Daljši</a:t>
                      </a:r>
                      <a:endParaRPr lang="en-SI" sz="1400" dirty="0"/>
                    </a:p>
                  </a:txBody>
                  <a:tcPr>
                    <a:solidFill>
                      <a:srgbClr val="FFAE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930777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129394D-9F90-EAD6-E9C4-65B27248CCBE}"/>
              </a:ext>
            </a:extLst>
          </p:cNvPr>
          <p:cNvSpPr txBox="1"/>
          <p:nvPr/>
        </p:nvSpPr>
        <p:spPr>
          <a:xfrm>
            <a:off x="974550" y="4086013"/>
            <a:ext cx="4876800" cy="1677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sl-SI" sz="1400" b="1" dirty="0"/>
              <a:t>Uporabnost XGBoost: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l-SI" sz="1400" dirty="0"/>
              <a:t>malo podatkov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l-SI" sz="1400" dirty="0"/>
              <a:t>tabelarični – enodimenzionalni podatki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l-SI" sz="1400" dirty="0"/>
              <a:t>enostavne odvisnosti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l-SI" sz="1400" dirty="0"/>
              <a:t>recimo majhni eksperimenti, še posebej klasifikacija</a:t>
            </a:r>
            <a:endParaRPr lang="en-SI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C1B071-C25B-6669-5687-4C901A170CF0}"/>
              </a:ext>
            </a:extLst>
          </p:cNvPr>
          <p:cNvSpPr txBox="1"/>
          <p:nvPr/>
        </p:nvSpPr>
        <p:spPr>
          <a:xfrm>
            <a:off x="1160207" y="5966875"/>
            <a:ext cx="48374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hlinkClick r:id="rId3"/>
              </a:rPr>
              <a:t>XGBoost</a:t>
            </a:r>
            <a:r>
              <a:rPr lang="en-US" sz="1400" dirty="0">
                <a:hlinkClick r:id="rId3"/>
              </a:rPr>
              <a:t> vs. N</a:t>
            </a:r>
            <a:r>
              <a:rPr lang="sl-SI" sz="1400" dirty="0">
                <a:hlinkClick r:id="rId3"/>
              </a:rPr>
              <a:t>N fluksi</a:t>
            </a:r>
            <a:endParaRPr lang="sl-SI" sz="1400" dirty="0"/>
          </a:p>
          <a:p>
            <a:r>
              <a:rPr lang="en-US" sz="1400" dirty="0" err="1">
                <a:hlinkClick r:id="rId4"/>
              </a:rPr>
              <a:t>XGBoost</a:t>
            </a:r>
            <a:r>
              <a:rPr lang="en-US" sz="1400" dirty="0">
                <a:hlinkClick r:id="rId4"/>
              </a:rPr>
              <a:t> vs. NN </a:t>
            </a:r>
            <a:r>
              <a:rPr lang="en-US" sz="1400" dirty="0" err="1">
                <a:hlinkClick r:id="rId4"/>
              </a:rPr>
              <a:t>splošno</a:t>
            </a:r>
            <a:endParaRPr lang="en-SI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927E31-793A-3B4B-0905-5E667A61C970}"/>
              </a:ext>
            </a:extLst>
          </p:cNvPr>
          <p:cNvSpPr txBox="1"/>
          <p:nvPr/>
        </p:nvSpPr>
        <p:spPr>
          <a:xfrm>
            <a:off x="6842096" y="4086013"/>
            <a:ext cx="4876800" cy="1677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sl-SI" sz="1400" b="1" dirty="0"/>
              <a:t>Uporabnost NN: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l-SI" sz="1400" dirty="0"/>
              <a:t>veliko podatkov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l-SI" sz="1400" dirty="0"/>
              <a:t>kakršnikoli podatki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l-SI" sz="1400" dirty="0"/>
              <a:t>kompleksni vzorci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sl-SI" sz="1400" dirty="0"/>
              <a:t>vse dokler so vzorci in veliko podatkov</a:t>
            </a:r>
          </a:p>
        </p:txBody>
      </p:sp>
    </p:spTree>
    <p:extLst>
      <p:ext uri="{BB962C8B-B14F-4D97-AF65-F5344CB8AC3E}">
        <p14:creationId xmlns:p14="http://schemas.microsoft.com/office/powerpoint/2010/main" val="2813069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B2598-F84E-61D2-1123-AAEEA2BC4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DD10D-AE95-9957-A261-2E21CD19E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550" y="1149709"/>
            <a:ext cx="10515600" cy="620645"/>
          </a:xfrm>
        </p:spPr>
        <p:txBody>
          <a:bodyPr>
            <a:normAutofit/>
          </a:bodyPr>
          <a:lstStyle/>
          <a:p>
            <a:r>
              <a:rPr lang="sl-SI" sz="3200" b="1" dirty="0">
                <a:latin typeface="TT Norms Pro" panose="02000503030000020003" pitchFamily="50" charset="0"/>
                <a:cs typeface="Arial"/>
              </a:rPr>
              <a:t>VAE – PARNI PODATKI</a:t>
            </a:r>
            <a:endParaRPr lang="sl-SI" sz="3200" b="1" dirty="0">
              <a:latin typeface="TT Norms Pro" panose="02000503030000020003" pitchFamily="50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D33D9D-D1F8-2AC3-D974-BE0E7AB2E1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4550" y="1974090"/>
            <a:ext cx="3980908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/>
              <a:t>Model: </a:t>
            </a:r>
            <a:r>
              <a:rPr lang="sl-SI" sz="1400" dirty="0"/>
              <a:t>conditional </a:t>
            </a:r>
            <a:r>
              <a:rPr lang="en-US" sz="1400" dirty="0"/>
              <a:t>variational autoencoder</a:t>
            </a:r>
            <a:endParaRPr lang="sl-SI" sz="1400" dirty="0"/>
          </a:p>
          <a:p>
            <a:pPr marL="0" indent="0">
              <a:buNone/>
            </a:pPr>
            <a:r>
              <a:rPr lang="sl-SI" sz="1400" b="1" dirty="0"/>
              <a:t>Tip podatkov: </a:t>
            </a:r>
            <a:r>
              <a:rPr lang="sl-SI" sz="1400" dirty="0"/>
              <a:t>scRNA ali fluksi</a:t>
            </a:r>
            <a:endParaRPr lang="sl-SI" sz="1400" b="1" dirty="0"/>
          </a:p>
          <a:p>
            <a:pPr marL="0" indent="0">
              <a:buNone/>
            </a:pPr>
            <a:r>
              <a:rPr lang="sl-SI" sz="1400" b="1" dirty="0">
                <a:cs typeface="Arial" panose="020B0604020202020204" pitchFamily="34" charset="0"/>
              </a:rPr>
              <a:t>Naloga: </a:t>
            </a:r>
            <a:r>
              <a:rPr lang="sl-SI" sz="1400" dirty="0">
                <a:cs typeface="Arial" panose="020B0604020202020204" pitchFamily="34" charset="0"/>
              </a:rPr>
              <a:t>I</a:t>
            </a:r>
            <a:r>
              <a:rPr lang="en-US" sz="1400" dirty="0" err="1"/>
              <a:t>ntegrira</a:t>
            </a:r>
            <a:r>
              <a:rPr lang="en-US" sz="1400" dirty="0"/>
              <a:t> </a:t>
            </a:r>
            <a:r>
              <a:rPr lang="en-US" sz="1400" dirty="0" err="1"/>
              <a:t>scRNA</a:t>
            </a:r>
            <a:r>
              <a:rPr lang="en-US" sz="1400" dirty="0"/>
              <a:t> in TCR </a:t>
            </a:r>
            <a:r>
              <a:rPr lang="en-US" sz="1400" dirty="0" err="1"/>
              <a:t>podatke</a:t>
            </a:r>
            <a:r>
              <a:rPr lang="en-US" sz="1400" dirty="0"/>
              <a:t> T </a:t>
            </a:r>
            <a:r>
              <a:rPr lang="en-US" sz="1400" dirty="0" err="1"/>
              <a:t>celic</a:t>
            </a:r>
            <a:r>
              <a:rPr lang="sl-SI" sz="1400" dirty="0"/>
              <a:t> + GEM pacienta + tip tkiva + čas v latentni prostor</a:t>
            </a:r>
            <a:r>
              <a:rPr lang="en-US" sz="1400" dirty="0"/>
              <a:t>.</a:t>
            </a:r>
            <a:r>
              <a:rPr lang="sl-SI" sz="1400" dirty="0"/>
              <a:t> Decoder Ustvari nov scRNA profil in pove ali se bo borila proti tumorju (klonalna ekspanzija)</a:t>
            </a:r>
          </a:p>
          <a:p>
            <a:pPr marL="0" indent="0">
              <a:buNone/>
            </a:pPr>
            <a:endParaRPr lang="sl-SI" sz="1400" dirty="0"/>
          </a:p>
          <a:p>
            <a:pPr marL="0" indent="0">
              <a:buNone/>
            </a:pPr>
            <a:r>
              <a:rPr lang="sl-SI" sz="1400" b="1" dirty="0">
                <a:cs typeface="Arial" panose="020B0604020202020204" pitchFamily="34" charset="0"/>
              </a:rPr>
              <a:t>Rezultat: </a:t>
            </a:r>
            <a:r>
              <a:rPr lang="sl-SI" sz="1400" dirty="0">
                <a:cs typeface="Arial" panose="020B0604020202020204" pitchFamily="34" charset="0"/>
              </a:rPr>
              <a:t>Natančna napoved fenotipa po terapiji že pred terapijo.</a:t>
            </a:r>
            <a:br>
              <a:rPr lang="sl-SI" sz="1400" dirty="0">
                <a:cs typeface="Arial" panose="020B0604020202020204" pitchFamily="34" charset="0"/>
              </a:rPr>
            </a:br>
            <a:br>
              <a:rPr lang="sl-SI" sz="1400" dirty="0">
                <a:cs typeface="Arial" panose="020B0604020202020204" pitchFamily="34" charset="0"/>
              </a:rPr>
            </a:br>
            <a:r>
              <a:rPr lang="sl-SI" sz="1400" b="1" dirty="0">
                <a:cs typeface="Arial" panose="020B0604020202020204" pitchFamily="34" charset="0"/>
              </a:rPr>
              <a:t>Validacija: </a:t>
            </a:r>
            <a:r>
              <a:rPr lang="sl-SI" sz="1400" dirty="0">
                <a:cs typeface="Arial" panose="020B0604020202020204" pitchFamily="34" charset="0"/>
              </a:rPr>
              <a:t>scRNA seq napovedanih celic po terapiji in primerjava</a:t>
            </a:r>
          </a:p>
          <a:p>
            <a:pPr marL="0" indent="0">
              <a:buNone/>
            </a:pPr>
            <a:endParaRPr lang="sl-SI" sz="1400" b="1" dirty="0"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sl-SI" sz="1400" dirty="0">
                <a:cs typeface="Arial" panose="020B0604020202020204" pitchFamily="34" charset="0"/>
                <a:hlinkClick r:id="rId3"/>
              </a:rPr>
              <a:t>predikcija kompetentnosti po terapiji</a:t>
            </a:r>
            <a:endParaRPr lang="sl-SI" sz="1400" dirty="0">
              <a:cs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1B88E6E-B5A1-DDB7-3CE5-7474B1909D2B}"/>
              </a:ext>
            </a:extLst>
          </p:cNvPr>
          <p:cNvSpPr txBox="1">
            <a:spLocks/>
          </p:cNvSpPr>
          <p:nvPr/>
        </p:nvSpPr>
        <p:spPr>
          <a:xfrm>
            <a:off x="955214" y="774062"/>
            <a:ext cx="10574592" cy="4468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l-SI" sz="1200" dirty="0">
                <a:solidFill>
                  <a:schemeClr val="bg2">
                    <a:lumMod val="25000"/>
                  </a:schemeClr>
                </a:solidFill>
                <a:latin typeface="TT Norms Pro Medium" panose="02000803030000020004" pitchFamily="50" charset="0"/>
                <a:cs typeface="Arial" panose="020B0604020202020204" pitchFamily="34" charset="0"/>
              </a:rPr>
              <a:t>PREDLOGI</a:t>
            </a:r>
          </a:p>
        </p:txBody>
      </p:sp>
      <p:pic>
        <p:nvPicPr>
          <p:cNvPr id="1026" name="Picture 2" descr="Improving VAEs with Normalizing Flows | Emory REU Computational Mathematics  for Data Science">
            <a:extLst>
              <a:ext uri="{FF2B5EF4-FFF2-40B4-BE49-F238E27FC236}">
                <a16:creationId xmlns:a16="http://schemas.microsoft.com/office/drawing/2014/main" id="{8772E63B-9B73-16FF-EDE5-F4F39A662C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9474" y="3783922"/>
            <a:ext cx="4807974" cy="2607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atent space visualization of the 10 MNIST digits in 2 dimensions of... |  Download Scientific Diagram">
            <a:extLst>
              <a:ext uri="{FF2B5EF4-FFF2-40B4-BE49-F238E27FC236}">
                <a16:creationId xmlns:a16="http://schemas.microsoft.com/office/drawing/2014/main" id="{C92744A3-D216-D73C-DEB3-EA51E95E73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7773" y="1220901"/>
            <a:ext cx="2649003" cy="2630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Connector: Curved 5">
            <a:extLst>
              <a:ext uri="{FF2B5EF4-FFF2-40B4-BE49-F238E27FC236}">
                <a16:creationId xmlns:a16="http://schemas.microsoft.com/office/drawing/2014/main" id="{082D6A5D-E97C-B07B-95CA-F006EE0361BA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8305391" y="3467072"/>
            <a:ext cx="493222" cy="417079"/>
          </a:xfrm>
          <a:prstGeom prst="curvedConnector3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6303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96D3A-A53B-6A76-C9CD-2DC9C3CB7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F84F3-7F96-90AF-C05B-6D7FC0D45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550" y="1149709"/>
            <a:ext cx="10515600" cy="620645"/>
          </a:xfrm>
        </p:spPr>
        <p:txBody>
          <a:bodyPr>
            <a:normAutofit/>
          </a:bodyPr>
          <a:lstStyle/>
          <a:p>
            <a:r>
              <a:rPr lang="sl-SI" sz="3200" b="1" dirty="0">
                <a:latin typeface="TT Norms Pro" panose="02000503030000020003" pitchFamily="50" charset="0"/>
                <a:cs typeface="Arial"/>
              </a:rPr>
              <a:t>INTERPRETACIJA METABOLIZMA</a:t>
            </a:r>
            <a:endParaRPr lang="sl-SI" sz="3200" b="1" dirty="0">
              <a:latin typeface="TT Norms Pro" panose="02000503030000020003" pitchFamily="50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D02E5-E5D5-EE6A-1D69-D0D0468578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4550" y="1974090"/>
            <a:ext cx="3980908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/>
              <a:t>Model: </a:t>
            </a:r>
            <a:r>
              <a:rPr lang="sl-SI" sz="1400" dirty="0"/>
              <a:t>GNN/CNN ali XGBoost/podobni</a:t>
            </a:r>
          </a:p>
          <a:p>
            <a:pPr marL="0" indent="0">
              <a:buNone/>
            </a:pPr>
            <a:r>
              <a:rPr lang="sl-SI" sz="1400" b="1" dirty="0"/>
              <a:t>Tip podatkov: </a:t>
            </a:r>
            <a:r>
              <a:rPr lang="sl-SI" sz="1400" dirty="0"/>
              <a:t>fluksi ali scRNA</a:t>
            </a:r>
            <a:endParaRPr lang="sl-SI" sz="1400" b="1" dirty="0"/>
          </a:p>
          <a:p>
            <a:pPr marL="0" indent="0">
              <a:buNone/>
            </a:pPr>
            <a:r>
              <a:rPr lang="sl-SI" sz="1400" b="1" dirty="0">
                <a:cs typeface="Arial" panose="020B0604020202020204" pitchFamily="34" charset="0"/>
              </a:rPr>
              <a:t>Naloga: </a:t>
            </a:r>
            <a:r>
              <a:rPr lang="sl-SI" sz="1400" dirty="0">
                <a:cs typeface="Arial" panose="020B0604020202020204" pitchFamily="34" charset="0"/>
              </a:rPr>
              <a:t>I</a:t>
            </a:r>
            <a:r>
              <a:rPr lang="en-US" sz="1400" dirty="0" err="1"/>
              <a:t>ntegrira</a:t>
            </a:r>
            <a:r>
              <a:rPr lang="en-US" sz="1400" dirty="0"/>
              <a:t> </a:t>
            </a:r>
            <a:r>
              <a:rPr lang="sl-SI" sz="1400" dirty="0"/>
              <a:t>flukse na enem tipu celic ali scRNA na večih tipih in se nauči vzorcev v povezavi z dokumentiranim fenotipom. Nato lahko za posamezno celico naredi klasifikacijo (recimo tumor - zdravo) in načeloma z orodji kot je SHAP napove konkretne odločilne flukse oz. pomembne reakcije v celici</a:t>
            </a:r>
          </a:p>
          <a:p>
            <a:pPr marL="0" indent="0">
              <a:buNone/>
            </a:pPr>
            <a:endParaRPr lang="sl-SI" sz="1400" dirty="0"/>
          </a:p>
          <a:p>
            <a:pPr marL="0" indent="0">
              <a:buNone/>
            </a:pPr>
            <a:r>
              <a:rPr lang="sl-SI" sz="1400" b="1" dirty="0">
                <a:cs typeface="Arial" panose="020B0604020202020204" pitchFamily="34" charset="0"/>
              </a:rPr>
              <a:t>Rezultat: </a:t>
            </a:r>
            <a:r>
              <a:rPr lang="sl-SI" sz="1400" dirty="0">
                <a:cs typeface="Arial" panose="020B0604020202020204" pitchFamily="34" charset="0"/>
              </a:rPr>
              <a:t>Klasifikacija celice v metabolni tip ter rangiranje pomembnih reakcij.</a:t>
            </a:r>
          </a:p>
          <a:p>
            <a:pPr marL="0" indent="0">
              <a:buNone/>
            </a:pPr>
            <a:r>
              <a:rPr lang="sl-SI" sz="1400" b="1" dirty="0">
                <a:cs typeface="Arial" panose="020B0604020202020204" pitchFamily="34" charset="0"/>
              </a:rPr>
              <a:t>Validacija: </a:t>
            </a:r>
            <a:r>
              <a:rPr lang="sl-SI" sz="1400" dirty="0">
                <a:cs typeface="Arial" panose="020B0604020202020204" pitchFamily="34" charset="0"/>
              </a:rPr>
              <a:t>Ročno primerjanje z dokumentacijo metabolnega tipa na internetu ali še boljše primerjava z eksperimentalno izmerjenim nivojem metabolitov.</a:t>
            </a:r>
            <a:endParaRPr lang="sl-SI" sz="1400" b="1" dirty="0">
              <a:cs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A23B278-620E-F4C7-1B4D-EDE5A7BF4AB2}"/>
              </a:ext>
            </a:extLst>
          </p:cNvPr>
          <p:cNvSpPr txBox="1">
            <a:spLocks/>
          </p:cNvSpPr>
          <p:nvPr/>
        </p:nvSpPr>
        <p:spPr>
          <a:xfrm>
            <a:off x="955214" y="774062"/>
            <a:ext cx="10574592" cy="4468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l-SI" sz="1200" dirty="0">
                <a:solidFill>
                  <a:schemeClr val="bg2">
                    <a:lumMod val="25000"/>
                  </a:schemeClr>
                </a:solidFill>
                <a:latin typeface="TT Norms Pro Medium" panose="02000803030000020004" pitchFamily="50" charset="0"/>
                <a:cs typeface="Arial" panose="020B0604020202020204" pitchFamily="34" charset="0"/>
              </a:rPr>
              <a:t>PREDLOGI</a:t>
            </a:r>
          </a:p>
        </p:txBody>
      </p:sp>
      <p:pic>
        <p:nvPicPr>
          <p:cNvPr id="2050" name="Picture 2" descr="GitHub - ChandlerBang/Pro-GNN: Implementation of the KDD 2020 paper &quot;Graph  Structure Learning for Robust Graph Neural Networks&quot; · GitHub">
            <a:extLst>
              <a:ext uri="{FF2B5EF4-FFF2-40B4-BE49-F238E27FC236}">
                <a16:creationId xmlns:a16="http://schemas.microsoft.com/office/drawing/2014/main" id="{B6CF4DF4-53CC-8A88-77A5-278D83DCE6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9265" y="1337101"/>
            <a:ext cx="3437860" cy="1273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658D0E2-60A0-F846-9728-8A2421E941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9328" y="3018503"/>
            <a:ext cx="5910478" cy="367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576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364</Words>
  <Application>Microsoft Office PowerPoint</Application>
  <PresentationFormat>Widescreen</PresentationFormat>
  <Paragraphs>57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TT Norms Pro</vt:lpstr>
      <vt:lpstr>TT Norms Pro Medium</vt:lpstr>
      <vt:lpstr>Office Theme</vt:lpstr>
      <vt:lpstr>RNA ALI FLUX SAMPLING?</vt:lpstr>
      <vt:lpstr>XGBOOST | NN </vt:lpstr>
      <vt:lpstr>VAE – PARNI PODATKI</vt:lpstr>
      <vt:lpstr>INTERPRETACIJA METABOLIZMA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Kos, Aljaž</dc:creator>
  <cp:lastModifiedBy>Kos, Aljaž</cp:lastModifiedBy>
  <cp:revision>4</cp:revision>
  <dcterms:created xsi:type="dcterms:W3CDTF">2026-03-26T09:03:26Z</dcterms:created>
  <dcterms:modified xsi:type="dcterms:W3CDTF">2026-03-31T13:02:59Z</dcterms:modified>
</cp:coreProperties>
</file>